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2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C8E6C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1E-4311-8C59-DF44E08E0C95}"/>
              </c:ext>
            </c:extLst>
          </c:dPt>
          <c:dPt>
            <c:idx val="1"/>
            <c:invertIfNegative val="0"/>
            <c:bubble3D val="0"/>
            <c:spPr>
              <a:solidFill>
                <a:srgbClr val="81C7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1E-4311-8C59-DF44E08E0C95}"/>
              </c:ext>
            </c:extLst>
          </c:dPt>
          <c:dPt>
            <c:idx val="2"/>
            <c:invertIfNegative val="0"/>
            <c:bubble3D val="0"/>
            <c:spPr>
              <a:solidFill>
                <a:srgbClr val="4CAF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1E-4311-8C59-DF44E08E0C95}"/>
              </c:ext>
            </c:extLst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11E-4311-8C59-DF44E08E0C95}"/>
              </c:ext>
            </c:extLst>
          </c:dPt>
          <c:dPt>
            <c:idx val="4"/>
            <c:invertIfNegative val="0"/>
            <c:bubble3D val="0"/>
            <c:spPr>
              <a:solidFill>
                <a:srgbClr val="1B5E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11E-4311-8C59-DF44E08E0C95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EfficientNet-B0
baseline</c:v>
                </c:pt>
                <c:pt idx="1">
                  <c:v>ConvNeXt Base
(1 модель)</c:v>
                </c:pt>
                <c:pt idx="2">
                  <c:v>ConvNeXt + TTA
(flip)</c:v>
                </c:pt>
                <c:pt idx="3">
                  <c:v>3-fold CV
ансамбль</c:v>
                </c:pt>
                <c:pt idx="4">
                  <c:v>Stacking
(финал)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0.60929999999999995</c:v>
                </c:pt>
                <c:pt idx="1">
                  <c:v>0.7228</c:v>
                </c:pt>
                <c:pt idx="2">
                  <c:v>0.72150000000000003</c:v>
                </c:pt>
                <c:pt idx="3">
                  <c:v>0.75590000000000002</c:v>
                </c:pt>
                <c:pt idx="4">
                  <c:v>0.75649999999999995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11E-4311-8C59-DF44E08E0C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55000000000000004"/>
        </c:scaling>
        <c:delete val="0"/>
        <c:axPos val="l"/>
        <c:majorGridlines>
          <c:spPr>
            <a:ln w="8890" cap="flat">
              <a:solidFill>
                <a:srgbClr val="E8F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67676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56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73152" cy="5143500"/>
          </a:xfrm>
          <a:prstGeom prst="rect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типа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комнаты по фото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разметка фотографий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объявлениях недвижимости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547872"/>
            <a:ext cx="3200400" cy="36576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57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Артем Власов · Владимир </a:t>
            </a:r>
            <a:r>
              <a:rPr lang="ru-RU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Сызранов</a:t>
            </a:r>
            <a:r>
              <a:rPr lang="ru-RU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Константин</a:t>
            </a:r>
            <a:r>
              <a:rPr lang="ru-RU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Гашев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2026 · МИФИ × Avito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371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1783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0.7565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126480" y="26974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результат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тесте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классов  ·  48 003 предсказания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 и что мы классифицируем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91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Многоклассовая классификация изображений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фото → 1 класс из 19 типов помещений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качества: Macro F1 (равный вес каждому классу)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Датасет: соревнование Avito × МИФИ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в продукте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разметка фото в объявлениях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качества карточек недвижимости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Улучшение поиска и фильтрации по объектам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4251960" cy="3566160"/>
          </a:xfrm>
          <a:prstGeom prst="rect">
            <a:avLst/>
          </a:prstGeom>
          <a:solidFill>
            <a:srgbClr val="F0F2F1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классов помещений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кухня / столовая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кухня-гостиная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гостиная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спальня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детская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651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кабинет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ванная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туалет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— санузел совм.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коридор / прихожая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1737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гардеробная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балкон / лоджия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194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вид из окна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423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дом снаружи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2651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подъезд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— другое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— предметы интерьера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— без мебели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работы над проектом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фазы от baseline до продуктового сервиса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91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2743200" cy="109728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Базовое решение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2286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данных и классов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26974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EfficientNet-B0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3108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0.6093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35204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Выявление проблемных классов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18688" y="96012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18688" y="960120"/>
            <a:ext cx="2743200" cy="109728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14300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50208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55848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Улучшение данных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модели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401568" y="2286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доразметка 687 фото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401568" y="26974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Балансировка классов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401568" y="3108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Base + TTA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401568" y="35204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ансамбль, F1: 0.7559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108192" y="96012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08192" y="960120"/>
            <a:ext cx="2743200" cy="109728"/>
          </a:xfrm>
          <a:prstGeom prst="rect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14300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39712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45352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Продуктовая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упаковка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291072" y="2286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Web-интерфейс Gradio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291072" y="26974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Docker-контейнеризация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6291072" y="3108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.gitignore, .env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291072" y="35204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Stacking, submission 48 003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2990088" y="2560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Text 30"/>
          <p:cNvSpPr/>
          <p:nvPr/>
        </p:nvSpPr>
        <p:spPr>
          <a:xfrm>
            <a:off x="5888736" y="2560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расширение и балансировка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решение Фазы 2 для улучшения Macro F1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91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931920" cy="1828800"/>
          </a:xfrm>
          <a:prstGeom prst="rect">
            <a:avLst/>
          </a:prstGeom>
          <a:solidFill>
            <a:srgbClr val="FFF8F0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91440" cy="1828800"/>
          </a:xfrm>
          <a:prstGeom prst="rect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24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566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Дисбаланс классов в исходном датасете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Редкие классы: кабинет, другое, универсальная, предметы интерьера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близость пар: ванная/санузел/туалет, гостиная/спальня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880360"/>
            <a:ext cx="3931920" cy="1691640"/>
          </a:xfrm>
          <a:prstGeom prst="rect">
            <a:avLst/>
          </a:prstGeom>
          <a:solidFill>
            <a:srgbClr val="E8F5EE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880360"/>
            <a:ext cx="91440" cy="169164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443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доразметка изображений командой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Доменная фильтрация внешних источников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по классам для предотвращения перекоса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960120"/>
            <a:ext cx="43434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 команды (Фаза 2)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463040"/>
          <a:ext cx="3977640" cy="2834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Участник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Артем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кабинет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Артем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другое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Владимир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кухня-гостиная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Владимир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предметы интерьера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Константин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универсальная комната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Константин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предметы интерьера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43484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добавлено: 687 изображений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 эксперименты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Хронология развития качества, Macro F1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91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96012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оценки: 0.60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960120"/>
            <a:ext cx="3017520" cy="3611880"/>
          </a:xfrm>
          <a:prstGeom prst="rect">
            <a:avLst/>
          </a:prstGeom>
          <a:solidFill>
            <a:srgbClr val="F0F2F1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решения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06440" y="1463040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sweep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17190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lr=1e-4 — оптимальный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06440" y="2075688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0" y="2121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2331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Base &gt;&gt; EfficientNet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06440" y="2688336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0" y="2734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0" y="29443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flip-TTA: +0.003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06440" y="3300984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943600" y="3346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CV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35570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F1: 0.7559, std ±0.013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806440" y="3913632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943600" y="3959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0" y="4169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meta-model, F1: 0.7565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7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Итоговые результаты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955280" y="2011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CF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2194560"/>
          </a:xfrm>
          <a:prstGeom prst="rect">
            <a:avLst/>
          </a:prstGeom>
          <a:solidFill>
            <a:srgbClr val="005A2E"/>
          </a:solidFill>
          <a:ln w="12700">
            <a:solidFill>
              <a:srgbClr val="006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0.7565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2029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ансамбль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2011680" cy="2194560"/>
          </a:xfrm>
          <a:prstGeom prst="rect">
            <a:avLst/>
          </a:prstGeom>
          <a:solidFill>
            <a:srgbClr val="005A2E"/>
          </a:solidFill>
          <a:ln w="12700">
            <a:solidFill>
              <a:srgbClr val="0068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234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68880" y="2029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Классов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помещений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покрытие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051560"/>
            <a:ext cx="2011680" cy="2194560"/>
          </a:xfrm>
          <a:prstGeom prst="rect">
            <a:avLst/>
          </a:prstGeom>
          <a:solidFill>
            <a:srgbClr val="005A2E"/>
          </a:solidFill>
          <a:ln w="12700">
            <a:solidFill>
              <a:srgbClr val="006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234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48 003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17720" y="2029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тест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051560"/>
            <a:ext cx="2011680" cy="2194560"/>
          </a:xfrm>
          <a:prstGeom prst="rect">
            <a:avLst/>
          </a:prstGeom>
          <a:solidFill>
            <a:srgbClr val="005A2E"/>
          </a:solidFill>
          <a:ln w="12700">
            <a:solidFill>
              <a:srgbClr val="006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234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1.24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66560" y="2029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baseline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0.60 → 0.76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383280"/>
            <a:ext cx="8503920" cy="1508760"/>
          </a:xfrm>
          <a:prstGeom prst="rect">
            <a:avLst/>
          </a:prstGeom>
          <a:solidFill>
            <a:srgbClr val="005A2E"/>
          </a:solidFill>
          <a:ln w="12700">
            <a:solidFill>
              <a:srgbClr val="006830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429000"/>
          <a:ext cx="8321040" cy="14173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 / подход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Фаза 1 —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Фаза 2 — одиночная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 Base (class-focus)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Фаза 2 — ансамбль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3-fold ConvNeXt, 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Фаза 2 — финал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 по OOF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0.7565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5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продуктового сервиса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финального решения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91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011680" cy="685800"/>
          </a:xfrm>
          <a:prstGeom prst="rect">
            <a:avLst/>
          </a:prstGeom>
          <a:solidFill>
            <a:srgbClr val="F0F2F1"/>
          </a:solidFill>
          <a:ln w="6350">
            <a:solidFill>
              <a:srgbClr val="F0F2F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521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721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Загружает фото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097280"/>
            <a:ext cx="2011680" cy="685800"/>
          </a:xfrm>
          <a:prstGeom prst="rect">
            <a:avLst/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11521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14721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app/app.py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66360" y="1097280"/>
            <a:ext cx="2011680" cy="685800"/>
          </a:xfrm>
          <a:prstGeom prst="rect">
            <a:avLst/>
          </a:prstGeom>
          <a:solidFill>
            <a:srgbClr val="E8F5EE"/>
          </a:solidFill>
          <a:ln w="6350">
            <a:solidFill>
              <a:srgbClr val="E8F5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11521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Инференс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14721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inference_ensemble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1097280"/>
            <a:ext cx="1280160" cy="685800"/>
          </a:xfrm>
          <a:prstGeom prst="rect">
            <a:avLst/>
          </a:prstGeom>
          <a:solidFill>
            <a:srgbClr val="00703C"/>
          </a:solidFill>
          <a:ln w="6350">
            <a:solidFill>
              <a:srgbClr val="00703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11521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35240" y="1472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+ conf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13533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13533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13533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66360" y="2057400"/>
            <a:ext cx="2011680" cy="640080"/>
          </a:xfrm>
          <a:prstGeom prst="rect">
            <a:avLst/>
          </a:prstGeom>
          <a:solidFill>
            <a:srgbClr val="F0F2F1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5780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ConvNeXt 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fold1 / fold2 / fold3 + TTA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18288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2057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17520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41832" y="3063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Web-интерфейс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11480" y="3520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Gradio, порт 7860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инференс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532888" y="2926080"/>
            <a:ext cx="2057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3017520"/>
            <a:ext cx="457200" cy="4572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154680" y="3063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2624328" y="3520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745736" y="2926080"/>
            <a:ext cx="2057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176" y="3017520"/>
            <a:ext cx="457200" cy="4572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367528" y="3063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4837176" y="3520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best_model.pth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artifacts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958584" y="2926080"/>
            <a:ext cx="20574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0024" y="3017520"/>
            <a:ext cx="457200" cy="4572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580376" y="3063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Git-публикация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7050024" y="3520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.gitignore, .gitattributes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LFS для весов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локальный инференс, без внешних API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91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91440" cy="187452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Обучение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CUDA (RTX 3060)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timm (ConvNeXt Base)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(stacking)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91440" cy="187452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8348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(обработка фото)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разметка (687 img)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3-fold CV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299923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99232"/>
            <a:ext cx="91440" cy="1874520"/>
          </a:xfrm>
          <a:prstGeom prst="rect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и UI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(web UI)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142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venv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462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localhost:7860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999232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99232"/>
            <a:ext cx="91440" cy="1874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8348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 LFS (веса)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8348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.gitignore, .gitattributes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4142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4462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GIT_PUBLISHING_GUIDE.md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пользователя и запуск сервиса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 · Docker · localhost:7860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91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1005840"/>
            <a:ext cx="731520" cy="73152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1965960" cy="777240"/>
          </a:xfrm>
          <a:prstGeom prst="rect">
            <a:avLst/>
          </a:prstGeom>
          <a:solidFill>
            <a:srgbClr val="E8F5EE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9202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http://localhost:7860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11887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36392" y="1005840"/>
            <a:ext cx="731520" cy="73152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496312" y="1874520"/>
            <a:ext cx="1965960" cy="777240"/>
          </a:xfrm>
          <a:prstGeom prst="rect">
            <a:avLst/>
          </a:prstGeom>
          <a:solidFill>
            <a:srgbClr val="E8F5EE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42032" y="19202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комнаты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62272" y="11887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12664" y="1005840"/>
            <a:ext cx="731520" cy="73152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2664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672584" y="1874520"/>
            <a:ext cx="1965960" cy="777240"/>
          </a:xfrm>
          <a:prstGeom prst="rect">
            <a:avLst/>
          </a:prstGeom>
          <a:solidFill>
            <a:srgbClr val="E8F5EE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18304" y="19202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Нажать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«Определить»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38544" y="118872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88936" y="1005840"/>
            <a:ext cx="731520" cy="73152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8936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848856" y="1874520"/>
            <a:ext cx="1965960" cy="777240"/>
          </a:xfrm>
          <a:prstGeom prst="rect">
            <a:avLst/>
          </a:prstGeom>
          <a:solidFill>
            <a:srgbClr val="E8F5EE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94576" y="19202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+ уверенность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2743200"/>
            <a:ext cx="850392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2807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Модель работает локально. Загруженные изображения не отправляются во внешние сервисы.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3337560"/>
            <a:ext cx="4069080" cy="1554480"/>
          </a:xfrm>
          <a:prstGeom prst="rect">
            <a:avLst/>
          </a:prstGeom>
          <a:solidFill>
            <a:srgbClr val="F0F7F0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401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через Docker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http://localhost:7860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0" y="3337560"/>
            <a:ext cx="4251960" cy="1554480"/>
          </a:xfrm>
          <a:prstGeom prst="rect">
            <a:avLst/>
          </a:prstGeom>
          <a:solidFill>
            <a:srgbClr val="F0F7F0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3401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запуск (без Docker)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app/requirements.txt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app/app.py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и вклад команды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Тимлид: Власов Артём | Сызранов Владимир · Гашев Константин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91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816352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60120"/>
            <a:ext cx="2816352" cy="9144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9304" y="1115568"/>
            <a:ext cx="694944" cy="694944"/>
          </a:xfrm>
          <a:prstGeom prst="ellipse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9304" y="1115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01752" y="188366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Артём Власов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" y="216712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Тимлид · ML / Prod Engineer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532888"/>
            <a:ext cx="237744" cy="237744"/>
          </a:xfrm>
          <a:prstGeom prst="ellipse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Ф.1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2648" y="248716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 обучение моделей (baseline)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2648" y="2743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EfficientNet-B0, настройка GPU/CUDA 12.8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299923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данных: 118 кабинет + 89 другое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465576"/>
            <a:ext cx="237744" cy="237744"/>
          </a:xfrm>
          <a:prstGeom prst="ellipse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65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Ф.2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2648" y="341985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инференса 3-fold ансамбля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2648" y="3675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pipeline (LogReg на OOF)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142232"/>
            <a:ext cx="237744" cy="237744"/>
          </a:xfrm>
          <a:prstGeom prst="ellipse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142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Ф.3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2648" y="409651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сборка prod-сервиса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2648" y="435254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UI/UX, Docker, deploy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" y="460857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отчёт, презентация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36392" y="960120"/>
            <a:ext cx="2816352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36392" y="960120"/>
            <a:ext cx="2816352" cy="9144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97096" y="1115568"/>
            <a:ext cx="694944" cy="694944"/>
          </a:xfrm>
          <a:prstGeom prst="ellipse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7096" y="1115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209544" y="188366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 Сызранов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9544" y="216712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 инженер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27832" y="2532888"/>
            <a:ext cx="237744" cy="237744"/>
          </a:xfrm>
          <a:prstGeom prst="ellipse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27832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Ф.1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520440" y="248716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EDA, подготовка датасета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20440" y="2743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данных: 170 кухня-гостиная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520440" y="299923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данных: 70 предметы интерьера / быт. техника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27832" y="3465576"/>
            <a:ext cx="237744" cy="237744"/>
          </a:xfrm>
          <a:prstGeom prst="ellipse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27832" y="3465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Ф.2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520440" y="341985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обучении ConvNeXt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520440" y="3675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предсказаний и метрик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27832" y="4142232"/>
            <a:ext cx="237744" cy="237744"/>
          </a:xfrm>
          <a:prstGeom prst="ellipse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27832" y="4142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Ф.3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520440" y="409651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финальной проверке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520440" y="435254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к защите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44184" y="960120"/>
            <a:ext cx="2816352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44184" y="960120"/>
            <a:ext cx="2816352" cy="91440"/>
          </a:xfrm>
          <a:prstGeom prst="rect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04888" y="1115568"/>
            <a:ext cx="694944" cy="69494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04888" y="1115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6117336" y="1883664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Константин Гашев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117336" y="216712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· Модели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35624" y="2532888"/>
            <a:ext cx="237744" cy="23774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35624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Ф.1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428232" y="248716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данных: 180 универсальная комната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28232" y="27432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данных: 60 предметы интерьера / быт. техника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35624" y="3209544"/>
            <a:ext cx="237744" cy="23774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35624" y="32095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Ф.2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428232" y="316382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ConvNeXt Base моделей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428232" y="3419856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CV, LR sweep (оптим. lr=1e-4)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428232" y="36758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по экспериментам (handover)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35624" y="4142232"/>
            <a:ext cx="237744" cy="23774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35624" y="4142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Ф.3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428232" y="409651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артефактов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428232" y="435254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весов и конфигов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работ — факт выполнения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Сводка: что сделано, кем, какой результат получен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91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" y="960120"/>
          <a:ext cx="8924544" cy="382219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Выполненные работы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 / артефакт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 Инфраструктура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 EDA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Kick-off, Git-репо, структура проекта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EDA: 4 562 изображений, дисбаланс классов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Выявлены трудные классы (кабинет×74, гардеробная×59)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767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train_df.csv, EDA-отчёт, /src /configs /models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Сбор данных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(Фазы 1–2)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Ручная разметка 687 фото по трудным классам: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АВ: 118 кабинет + 89 другое  |  ВС: 170 кухня-гостиная + 70 предметы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КГ: 180 универсальная + 60 предметы  |  Фильтрация + balancing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АВ+ВС+КГ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767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train_df_full_class_focus.csv (4 598 строк)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(Фаза 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EfficientNet-B0, transfer learning, исправление путей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sweep exp2/exp3/exp4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767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 = 0.6093 ✓  best_model.pth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ConvNeXt 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(Фаза 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 Base (timm), GPU RTX 3060, CUDA 12.8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sweep: lr=1e-4 → F1=0.7176  |  class-focus retrain → F1=0.7228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КГ + АВ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767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configs/*.yaml  fold1–3 checkpoints (~350 МБ)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3-fold CV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Stacking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(Фаза 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3-fold: 0.7378 / 0.7595 / 0.7704  mean=0.7559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Flip-TTA +0.003  |  Stacking LogReg на OOF → F1=0.7565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КГ + АВ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767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best_model.pth ×3  oof_meta.csv  submission.csv 48 003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Prod-сервис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(Фаза 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Gradio UI (app.py), локальный инференс, порт 7860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Dockerfile + docker-compose  .env  .gitignore  Git LFS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767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localhost:7860  Docker-образ готов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Документация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5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 защита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README.md  FINAL_PROJECT_REPORT.md  EXPERIMENT_REPORT.md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Презентация .pptx / .pdf  |  Итоговый документ в ЛК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767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 документы в /docs  Итоговый документ в ЛК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728" y="4919472"/>
            <a:ext cx="8924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 — Власов Артём  ·  ВС — Сызранов Владимир  ·  КГ — Гашев Константин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сервиса — демонстрация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 · localhost:7860 · локальный инференс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91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3931920"/>
          </a:xfrm>
          <a:prstGeom prst="rect">
            <a:avLst/>
          </a:prstGeom>
          <a:solidFill>
            <a:srgbClr val="F0F2F1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0040" y="960120"/>
            <a:ext cx="201168" cy="201168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960120"/>
            <a:ext cx="201168" cy="201168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4709160"/>
            <a:ext cx="201168" cy="201168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4709160"/>
            <a:ext cx="201168" cy="201168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46058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UI  ·  Загрузка фото  ·  Топ-5 классов с уверенностью</a:t>
            </a:r>
            <a:endParaRPr lang="en-US" sz="13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70406C6-AB25-4E2F-AE65-4E2F82961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718" y="1051928"/>
            <a:ext cx="6504563" cy="35813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критериям оценки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ключевые требования выполнены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91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124712"/>
            <a:ext cx="384048" cy="384048"/>
          </a:xfrm>
          <a:prstGeom prst="ellipse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060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данных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344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Очистка, балансировка, ручное расширение датасета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78308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901952"/>
            <a:ext cx="384048" cy="384048"/>
          </a:xfrm>
          <a:prstGeom prst="ellipse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1837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модели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EfficientNet-B0 + ConvNeXt Base (3-fold)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679192"/>
            <a:ext cx="384048" cy="384048"/>
          </a:xfrm>
          <a:prstGeom prst="ellipse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метрик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2898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по всем экспериментам и фолдам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33756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456432"/>
            <a:ext cx="384048" cy="384048"/>
          </a:xfrm>
          <a:prstGeom prst="ellipse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3392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классификации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675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= 0.7565 (порог ≥ 0.60 ✓)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11480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4233672"/>
            <a:ext cx="384048" cy="384048"/>
          </a:xfrm>
          <a:prstGeom prst="ellipse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169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submission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4453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48 003 строки для тестового набора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100584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1124712"/>
            <a:ext cx="384048" cy="384048"/>
          </a:xfrm>
          <a:prstGeom prst="ellipse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1060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интерфейса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1344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Web-интерфейс Gradio с загрузкой фото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178308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1901952"/>
            <a:ext cx="384048" cy="384048"/>
          </a:xfrm>
          <a:prstGeom prst="ellipse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03520" y="1837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train / infer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03520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обучения, конфиги и инференс разделены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256032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0600" y="2679192"/>
            <a:ext cx="384048" cy="384048"/>
          </a:xfrm>
          <a:prstGeom prst="ellipse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03520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запуск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303520" y="2898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Инференс без внешних API, localhost:7860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333756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00600" y="3456432"/>
            <a:ext cx="384048" cy="384048"/>
          </a:xfrm>
          <a:prstGeom prst="ellipse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303520" y="3392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Контейнеризация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03520" y="3675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docker-compose.yml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09160" y="411480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00600" y="4233672"/>
            <a:ext cx="384048" cy="384048"/>
          </a:xfrm>
          <a:prstGeom prst="ellipse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303520" y="4169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303520" y="4453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отчёт, GIT_PUBLISHING_GUIDE.md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и направления развития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Текущие границы и что можно улучшить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0" y="91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0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FFF8F0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91440" cy="3840480"/>
          </a:xfrm>
          <a:prstGeom prst="rect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Текущие ограничения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Инференс на CPU медленнее, чем на GPU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1122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зависит от схожести фото с обучающим доменом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моделей требуют Git LFS для публикации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192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REST API для промышленной интеграции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922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Пакетная обработка не реализована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4251960" cy="3840480"/>
          </a:xfrm>
          <a:prstGeom prst="rect">
            <a:avLst/>
          </a:prstGeom>
          <a:solidFill>
            <a:srgbClr val="E8F5EE"/>
          </a:solidFill>
          <a:ln w="6350">
            <a:solidFill>
              <a:srgbClr val="E0E5E2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960120"/>
            <a:ext cx="91440" cy="3840480"/>
          </a:xfrm>
          <a:prstGeom prst="rect">
            <a:avLst/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 развития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1508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FastAPI-слой для интеграции с внешними системами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21122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Batch-инференс endpoint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715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/ W&amp;B для логирования экспериментов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3192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объяснение предсказаний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9227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модели в Hugging Face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55280" y="2926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9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8288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73152"/>
          </a:xfrm>
          <a:prstGeom prst="rect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47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превышена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673352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= 0.7565 — выше порога 0.60 на 26%. Стабильный 3-fold CV, std ±0.013.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160520" cy="18288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960120"/>
            <a:ext cx="4160520" cy="73152"/>
          </a:xfrm>
          <a:prstGeom prst="rect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2471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решают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92040" y="1673352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доразметка 687 фото по трудным классам дала ключевой прирост качества.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" y="2926080"/>
            <a:ext cx="4160520" cy="18288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0040" y="2926080"/>
            <a:ext cx="4160520" cy="73152"/>
          </a:xfrm>
          <a:prstGeom prst="rect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9067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108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к демонстрации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57200" y="3639312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упакован в Docker, запускается одной командой, работает без внешних API.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926080"/>
            <a:ext cx="4160520" cy="18288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54880" y="2926080"/>
            <a:ext cx="4160520" cy="73152"/>
          </a:xfrm>
          <a:prstGeom prst="rect">
            <a:avLst/>
          </a:prstGeom>
          <a:solidFill>
            <a:srgbClr val="00B956"/>
          </a:solidFill>
          <a:ln w="12700">
            <a:solidFill>
              <a:srgbClr val="00B95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09067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108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9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Командная работа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892040" y="3639312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Чёткое распределение по ролям: разметка, обучение, упаковка. Все этапы закрыты.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1538</Words>
  <Application>Microsoft Office PowerPoint</Application>
  <PresentationFormat>Экран (16:9)</PresentationFormat>
  <Paragraphs>400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Avito Room Type Classification</dc:title>
  <dc:subject>PptxGenJS Presentation</dc:subject>
  <dc:creator>Artem Vlasov, Vladimir, Konstantin</dc:creator>
  <cp:lastModifiedBy>vlasovart2012</cp:lastModifiedBy>
  <cp:revision>3</cp:revision>
  <dcterms:created xsi:type="dcterms:W3CDTF">2026-05-16T22:36:44Z</dcterms:created>
  <dcterms:modified xsi:type="dcterms:W3CDTF">2026-05-17T12:15:12Z</dcterms:modified>
</cp:coreProperties>
</file>